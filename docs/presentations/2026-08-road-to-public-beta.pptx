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Phases</c:v>
                </c:pt>
              </c:strCache>
            </c:strRef>
          </c:tx>
          <c:spPr>
            <a:solidFill>
              <a:srgbClr val="B83A24">
                <a:alpha val="100000"/>
              </a:srgbClr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A232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3A2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85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B5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7A2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E7A5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Blocked</c:v>
                  </c:pt>
                  <c:pt idx="1">
                    <c:v>Pending</c:v>
                  </c:pt>
                  <c:pt idx="2">
                    <c:v>Needs review</c:v>
                  </c:pt>
                  <c:pt idx="3">
                    <c:v>In progress</c:v>
                  </c:pt>
                  <c:pt idx="4">
                    <c:v>Complete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2</c:v>
                </c:pt>
                <c:pt idx="3">
                  <c:v>8</c:v>
                </c:pt>
                <c:pt idx="4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2A232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32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0"/>
            <a:ext cx="3785616" cy="6858000"/>
          </a:xfrm>
          <a:prstGeom prst="rect">
            <a:avLst/>
          </a:prstGeom>
          <a:solidFill>
            <a:srgbClr val="2E211C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1920240"/>
            <a:ext cx="2286000" cy="2286000"/>
          </a:xfrm>
          <a:prstGeom prst="ellipse">
            <a:avLst/>
          </a:prstGeom>
          <a:solidFill>
            <a:srgbClr val="B83A2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0" y="19202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道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D9B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HANZI DOJO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to Public Beta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before launch — blockers, keys, content, and the runbook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review  ·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 is built — launch waits on sign-off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F6F1EC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856232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04088" y="2743200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stories, every one with cover art, narration and an ending check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02152" y="160020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F6F1EC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1856232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4,995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703320" y="2743200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HSK words live across levels 1–6 — audio and example sentences included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01384" y="160020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F6F1EC"/>
          </a:solidFill>
          <a:ln/>
        </p:spPr>
      </p:sp>
      <p:sp>
        <p:nvSpPr>
          <p:cNvPr id="11" name="Text 9"/>
          <p:cNvSpPr/>
          <p:nvPr/>
        </p:nvSpPr>
        <p:spPr>
          <a:xfrm>
            <a:off x="6702552" y="1856232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10,522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702552" y="2743200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audio clips generated — narrator plus character voices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500616" y="160020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F6F1EC"/>
          </a:solidFill>
          <a:ln/>
        </p:spPr>
      </p:sp>
      <p:sp>
        <p:nvSpPr>
          <p:cNvPr id="14" name="Text 12"/>
          <p:cNvSpPr/>
          <p:nvPr/>
        </p:nvSpPr>
        <p:spPr>
          <a:xfrm>
            <a:off x="9701784" y="1856232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~3,000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701784" y="2743200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green, plus Playwright e2e and visual-regression gates in CI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297680"/>
            <a:ext cx="11183112" cy="1737360"/>
          </a:xfrm>
          <a:prstGeom prst="roundRect">
            <a:avLst>
              <a:gd name="adj" fmla="val 4737"/>
            </a:avLst>
          </a:prstGeom>
          <a:solidFill>
            <a:srgbClr val="231A1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5262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B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beta-hardening milestone stands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864608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D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of 16 hardening phases are underway or done. Security boundaries are enforced in the database, metrics were rebuilt to be honest, trust pages are live, and every release now walks a written checklist backed by screenshot tests. The app is live, stable, and shipping weekly — launch is gated on approvals and content, not engineering risk.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9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Hanzi Dojo  ·  Road to Public Beta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BLOCKERS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gates must clear before a wider beta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86400" cy="2121408"/>
          </a:xfrm>
          <a:prstGeom prst="roundRect">
            <a:avLst>
              <a:gd name="adj" fmla="val 3879"/>
            </a:avLst>
          </a:prstGeom>
          <a:solidFill>
            <a:srgbClr val="F6F1EC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874520"/>
            <a:ext cx="566928" cy="566928"/>
          </a:xfrm>
          <a:prstGeom prst="ellipse">
            <a:avLst/>
          </a:prstGeom>
          <a:solidFill>
            <a:srgbClr val="B83A2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53" y="20219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745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Chinese editorial sign-off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95528" y="25146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hard block (phase P9): a qualified Chinese reviewer must certify the 14 grammar-guide topics and the published stories. Tooling and reports are ready — the review itself cannot be self-certified.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99632" y="1600200"/>
            <a:ext cx="5486400" cy="2121408"/>
          </a:xfrm>
          <a:prstGeom prst="roundRect">
            <a:avLst>
              <a:gd name="adj" fmla="val 3879"/>
            </a:avLst>
          </a:prstGeom>
          <a:solidFill>
            <a:srgbClr val="F6F1EC"/>
          </a:solidFill>
          <a:ln/>
        </p:spPr>
      </p:sp>
      <p:sp>
        <p:nvSpPr>
          <p:cNvPr id="10" name="Shape 7"/>
          <p:cNvSpPr/>
          <p:nvPr/>
        </p:nvSpPr>
        <p:spPr>
          <a:xfrm>
            <a:off x="6455664" y="1874520"/>
            <a:ext cx="566928" cy="566928"/>
          </a:xfrm>
          <a:prstGeom prst="ellipse">
            <a:avLst/>
          </a:prstGeom>
          <a:solidFill>
            <a:srgbClr val="B83A2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065" y="202192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05472" y="18745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&amp; trust pages — final review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492240" y="25146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Terms, Support and Methodology are live but remain owner-reviewed drafts. They must be read and approved before the beta announcement treats them as final.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950208"/>
            <a:ext cx="5486400" cy="2121408"/>
          </a:xfrm>
          <a:prstGeom prst="roundRect">
            <a:avLst>
              <a:gd name="adj" fmla="val 3879"/>
            </a:avLst>
          </a:prstGeom>
          <a:solidFill>
            <a:srgbClr val="F6F1EC"/>
          </a:solidFill>
          <a:ln/>
        </p:spPr>
      </p:sp>
      <p:sp>
        <p:nvSpPr>
          <p:cNvPr id="15" name="Shape 11"/>
          <p:cNvSpPr/>
          <p:nvPr/>
        </p:nvSpPr>
        <p:spPr>
          <a:xfrm>
            <a:off x="758952" y="4224528"/>
            <a:ext cx="566928" cy="566928"/>
          </a:xfrm>
          <a:prstGeom prst="ellipse">
            <a:avLst/>
          </a:prstGeom>
          <a:solidFill>
            <a:srgbClr val="B83A2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53" y="437192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22452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Real-device verification pass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795528" y="4864608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/ Safari audio, offline grade replay, and push reminders are built and unit-tested but have never run on real hardware. One structured pass per the testing doc closes this.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99632" y="3950208"/>
            <a:ext cx="5486400" cy="2121408"/>
          </a:xfrm>
          <a:prstGeom prst="roundRect">
            <a:avLst>
              <a:gd name="adj" fmla="val 3879"/>
            </a:avLst>
          </a:prstGeom>
          <a:solidFill>
            <a:srgbClr val="F6F1EC"/>
          </a:solidFill>
          <a:ln/>
        </p:spPr>
      </p:sp>
      <p:sp>
        <p:nvSpPr>
          <p:cNvPr id="20" name="Shape 15"/>
          <p:cNvSpPr/>
          <p:nvPr/>
        </p:nvSpPr>
        <p:spPr>
          <a:xfrm>
            <a:off x="6455664" y="4224528"/>
            <a:ext cx="566928" cy="566928"/>
          </a:xfrm>
          <a:prstGeom prst="ellipse">
            <a:avLst/>
          </a:prstGeom>
          <a:solidFill>
            <a:srgbClr val="B83A2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065" y="437192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05472" y="422452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Fresh-account walkthrough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492240" y="4864608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clean end-to-end run: sign-up → onboarding → first study session → first story → language reset from Profile. Proves the first five minutes a new user will actually see.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9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Hanzi Dojo  ·  Road to Public Beta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CONSOLE ACTIONS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hour of console work unblocks all of this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12064" cy="512064"/>
          </a:xfrm>
          <a:prstGeom prst="ellipse">
            <a:avLst/>
          </a:prstGeom>
          <a:solidFill>
            <a:srgbClr val="231A1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065" y="1760769"/>
            <a:ext cx="245791" cy="245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554480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Speech secrets in GitHub Actions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40680" y="1554480"/>
            <a:ext cx="6263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secrets (key + region) unlock the staged re-record of 21 mispronounced words and full slow-word / sentence audio for HSK 3–6. The run is prepared — one click after the secrets exist.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298448" y="2423160"/>
            <a:ext cx="10405872" cy="0"/>
          </a:xfrm>
          <a:prstGeom prst="line">
            <a:avLst/>
          </a:prstGeom>
          <a:noFill/>
          <a:ln w="9525">
            <a:solidFill>
              <a:srgbClr val="E8E1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2560320"/>
            <a:ext cx="512064" cy="512064"/>
          </a:xfrm>
          <a:prstGeom prst="ellipse">
            <a:avLst/>
          </a:prstGeom>
          <a:solidFill>
            <a:srgbClr val="231A1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65" y="2693457"/>
            <a:ext cx="245791" cy="2457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2487168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funded LLM key for story generation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440680" y="2487168"/>
            <a:ext cx="6263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tiers are proven insufficient (measured across three overnight runs). A funded key — roughly a dollar or two per level — reopens automatic HSK 3–6 story generation.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298448" y="3355848"/>
            <a:ext cx="10405872" cy="0"/>
          </a:xfrm>
          <a:prstGeom prst="line">
            <a:avLst/>
          </a:prstGeom>
          <a:noFill/>
          <a:ln w="9525">
            <a:solidFill>
              <a:srgbClr val="E8E1D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6928" y="3493008"/>
            <a:ext cx="512064" cy="512064"/>
          </a:xfrm>
          <a:prstGeom prst="ellipse">
            <a:avLst/>
          </a:prstGeom>
          <a:solidFill>
            <a:srgbClr val="231A1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65" y="3626145"/>
            <a:ext cx="245791" cy="2457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98448" y="3419856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domain &amp; sign-up email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5440680" y="3419856"/>
            <a:ext cx="6263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Supabase Site URL and redirect allowlist to hanzi-dojo.com, then live-test one real sign-up email (Brevo SMTP is configured; delivery has never been verified to an external inbox).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1298448" y="4288536"/>
            <a:ext cx="10405872" cy="0"/>
          </a:xfrm>
          <a:prstGeom prst="line">
            <a:avLst/>
          </a:prstGeom>
          <a:noFill/>
          <a:ln w="9525">
            <a:solidFill>
              <a:srgbClr val="E8E1D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66928" y="4425696"/>
            <a:ext cx="512064" cy="512064"/>
          </a:xfrm>
          <a:prstGeom prst="ellipse">
            <a:avLst/>
          </a:prstGeom>
          <a:solidFill>
            <a:srgbClr val="231A1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65" y="4558833"/>
            <a:ext cx="245791" cy="2457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98448" y="4352544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sign-in consent screen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5440680" y="4352544"/>
            <a:ext cx="6263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OAuth consent screen “Hanzi Dojo” so Google stops showing the raw project URL at sign-in. Optional follow-up: a custom auth domain removes the last trace.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1298448" y="5221224"/>
            <a:ext cx="10405872" cy="0"/>
          </a:xfrm>
          <a:prstGeom prst="line">
            <a:avLst/>
          </a:prstGeom>
          <a:noFill/>
          <a:ln w="9525">
            <a:solidFill>
              <a:srgbClr val="E8E1D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66928" y="5358384"/>
            <a:ext cx="512064" cy="512064"/>
          </a:xfrm>
          <a:prstGeom prst="ellipse">
            <a:avLst/>
          </a:prstGeom>
          <a:solidFill>
            <a:srgbClr val="231A1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65" y="5491521"/>
            <a:ext cx="245791" cy="2457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98448" y="5285232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Retire the two dead CI checks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5440680" y="5285232"/>
            <a:ext cx="6263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the obsolete Cloudflare “Workers Builds” integrations and switch off the retired GitHub Pages site. Red that means nothing trains everyone to ignore red that matters.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9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Hanzi Dojo  ·  Road to Public Beta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at HSK 1–2 — upper levels need volume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4206240" cy="4526280"/>
          </a:xfrm>
          <a:prstGeom prst="roundRect">
            <a:avLst>
              <a:gd name="adj" fmla="val 1957"/>
            </a:avLst>
          </a:prstGeom>
          <a:solidFill>
            <a:srgbClr val="231A1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603504" cy="603504"/>
          </a:xfrm>
          <a:prstGeom prst="ellipse">
            <a:avLst/>
          </a:prstGeom>
          <a:solidFill>
            <a:srgbClr val="B83A2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91" y="207715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HSK 3–6 story volume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32004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D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remaining content gap. Learners can reach these levels today; the shelves stay thin until stories arrive.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D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lanes are ready: the hand-authored pipeline works now with no external dependency, and the automatic generator reopens the moment a funded LLM key lands.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83480" y="1572768"/>
            <a:ext cx="6702552" cy="1069848"/>
          </a:xfrm>
          <a:prstGeom prst="roundRect">
            <a:avLst>
              <a:gd name="adj" fmla="val 6838"/>
            </a:avLst>
          </a:prstGeom>
          <a:solidFill>
            <a:srgbClr val="F6F1EC"/>
          </a:solidFill>
          <a:ln/>
        </p:spPr>
      </p:sp>
      <p:sp>
        <p:nvSpPr>
          <p:cNvPr id="10" name="Shape 7"/>
          <p:cNvSpPr/>
          <p:nvPr/>
        </p:nvSpPr>
        <p:spPr>
          <a:xfrm>
            <a:off x="5184648" y="1828800"/>
            <a:ext cx="475488" cy="475488"/>
          </a:xfrm>
          <a:prstGeom prst="ellipse">
            <a:avLst/>
          </a:prstGeom>
          <a:solidFill>
            <a:srgbClr val="B83A2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275" y="1952427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24728" y="1682496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the held chapters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824728" y="1993392"/>
            <a:ext cx="5650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HSK 3 serials are each missing most of a season (held, written, awaiting an editorial pass); one older season needs a rewrite on one side of its mystery before it can publish.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983480" y="2724912"/>
            <a:ext cx="6702552" cy="1069848"/>
          </a:xfrm>
          <a:prstGeom prst="roundRect">
            <a:avLst>
              <a:gd name="adj" fmla="val 6838"/>
            </a:avLst>
          </a:prstGeom>
          <a:solidFill>
            <a:srgbClr val="F6F1EC"/>
          </a:solidFill>
          <a:ln/>
        </p:spPr>
      </p:sp>
      <p:sp>
        <p:nvSpPr>
          <p:cNvPr id="15" name="Shape 11"/>
          <p:cNvSpPr/>
          <p:nvPr/>
        </p:nvSpPr>
        <p:spPr>
          <a:xfrm>
            <a:off x="5184648" y="2980944"/>
            <a:ext cx="475488" cy="475488"/>
          </a:xfrm>
          <a:prstGeom prst="ellipse">
            <a:avLst/>
          </a:prstGeom>
          <a:solidFill>
            <a:srgbClr val="B83A2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275" y="3104571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24728" y="283464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stories sit under the coverage bar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824728" y="3145536"/>
            <a:ext cx="5650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HSK 1–3 stories that use more off-list words than the level allows. Each needs a call: swap words, re-level the story, or accept the reach.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983480" y="3877056"/>
            <a:ext cx="6702552" cy="1069848"/>
          </a:xfrm>
          <a:prstGeom prst="roundRect">
            <a:avLst>
              <a:gd name="adj" fmla="val 6838"/>
            </a:avLst>
          </a:prstGeom>
          <a:solidFill>
            <a:srgbClr val="F6F1EC"/>
          </a:solidFill>
          <a:ln/>
        </p:spPr>
      </p:sp>
      <p:sp>
        <p:nvSpPr>
          <p:cNvPr id="20" name="Shape 15"/>
          <p:cNvSpPr/>
          <p:nvPr/>
        </p:nvSpPr>
        <p:spPr>
          <a:xfrm>
            <a:off x="5184648" y="4133088"/>
            <a:ext cx="475488" cy="475488"/>
          </a:xfrm>
          <a:prstGeom prst="ellipse">
            <a:avLst/>
          </a:prstGeom>
          <a:solidFill>
            <a:srgbClr val="B83A2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8275" y="4256715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24728" y="3986784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HSK 6 words lack example sentences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824728" y="4297680"/>
            <a:ext cx="5650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of 4,995. Purely a free-tier quota window — one clean run finishes it.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983480" y="5029200"/>
            <a:ext cx="6702552" cy="1069848"/>
          </a:xfrm>
          <a:prstGeom prst="roundRect">
            <a:avLst>
              <a:gd name="adj" fmla="val 6838"/>
            </a:avLst>
          </a:prstGeom>
          <a:solidFill>
            <a:srgbClr val="F6F1EC"/>
          </a:solidFill>
          <a:ln/>
        </p:spPr>
      </p:sp>
      <p:sp>
        <p:nvSpPr>
          <p:cNvPr id="25" name="Shape 19"/>
          <p:cNvSpPr/>
          <p:nvPr/>
        </p:nvSpPr>
        <p:spPr>
          <a:xfrm>
            <a:off x="5184648" y="5285232"/>
            <a:ext cx="475488" cy="475488"/>
          </a:xfrm>
          <a:prstGeom prst="ellipse">
            <a:avLst/>
          </a:prstGeom>
          <a:solidFill>
            <a:srgbClr val="B83A2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8275" y="5408859"/>
            <a:ext cx="228234" cy="22823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824728" y="5138928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Re-record 21 corrected words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824728" y="5449824"/>
            <a:ext cx="5650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pinyin was fixed in the database; the audio still speaks the old reading. The targeted regeneration is staged behind the Azure secrets (slide 4).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9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Hanzi Dojo  ·  Road to Public Beta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TRACKER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 hardening: 16 phases, one hard block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9164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691640"/>
            <a:ext cx="4965192" cy="1344168"/>
          </a:xfrm>
          <a:prstGeom prst="roundRect">
            <a:avLst>
              <a:gd name="adj" fmla="val 5442"/>
            </a:avLst>
          </a:prstGeom>
          <a:solidFill>
            <a:srgbClr val="F6F1EC"/>
          </a:solidFill>
          <a:ln/>
        </p:spPr>
      </p:sp>
      <p:sp>
        <p:nvSpPr>
          <p:cNvPr id="6" name="Shape 3"/>
          <p:cNvSpPr/>
          <p:nvPr/>
        </p:nvSpPr>
        <p:spPr>
          <a:xfrm>
            <a:off x="6940296" y="1911096"/>
            <a:ext cx="182880" cy="182880"/>
          </a:xfrm>
          <a:prstGeom prst="ellipse">
            <a:avLst/>
          </a:prstGeom>
          <a:solidFill>
            <a:srgbClr val="B83A24"/>
          </a:solidFill>
          <a:ln/>
        </p:spPr>
      </p:sp>
      <p:sp>
        <p:nvSpPr>
          <p:cNvPr id="7" name="Text 4"/>
          <p:cNvSpPr/>
          <p:nvPr/>
        </p:nvSpPr>
        <p:spPr>
          <a:xfrm>
            <a:off x="7232904" y="1810512"/>
            <a:ext cx="4233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critical path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76872" y="2167128"/>
            <a:ext cx="4462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blocked phase is Chinese editorial sign-off (P9) — an external reviewer, not engineering. Everything else can proceed around it.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720840" y="3154680"/>
            <a:ext cx="4965192" cy="1344168"/>
          </a:xfrm>
          <a:prstGeom prst="roundRect">
            <a:avLst>
              <a:gd name="adj" fmla="val 5442"/>
            </a:avLst>
          </a:prstGeom>
          <a:solidFill>
            <a:srgbClr val="F6F1EC"/>
          </a:solidFill>
          <a:ln/>
        </p:spPr>
      </p:sp>
      <p:sp>
        <p:nvSpPr>
          <p:cNvPr id="10" name="Shape 7"/>
          <p:cNvSpPr/>
          <p:nvPr/>
        </p:nvSpPr>
        <p:spPr>
          <a:xfrm>
            <a:off x="6940296" y="3374136"/>
            <a:ext cx="182880" cy="182880"/>
          </a:xfrm>
          <a:prstGeom prst="ellipse">
            <a:avLst/>
          </a:prstGeom>
          <a:solidFill>
            <a:srgbClr val="D9B58A"/>
          </a:solidFill>
          <a:ln/>
        </p:spPr>
      </p:sp>
      <p:sp>
        <p:nvSpPr>
          <p:cNvPr id="11" name="Text 8"/>
          <p:cNvSpPr/>
          <p:nvPr/>
        </p:nvSpPr>
        <p:spPr>
          <a:xfrm>
            <a:off x="7232904" y="3273552"/>
            <a:ext cx="4233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reports await a read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76872" y="3630168"/>
            <a:ext cx="4462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security-boundary audit (P1) and the metrics-integrity rebuild (P2) are done and documented; they need an owner review to close.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720840" y="4617720"/>
            <a:ext cx="4965192" cy="1344168"/>
          </a:xfrm>
          <a:prstGeom prst="roundRect">
            <a:avLst>
              <a:gd name="adj" fmla="val 5442"/>
            </a:avLst>
          </a:prstGeom>
          <a:solidFill>
            <a:srgbClr val="F6F1EC"/>
          </a:solidFill>
          <a:ln/>
        </p:spPr>
      </p:sp>
      <p:sp>
        <p:nvSpPr>
          <p:cNvPr id="14" name="Shape 11"/>
          <p:cNvSpPr/>
          <p:nvPr/>
        </p:nvSpPr>
        <p:spPr>
          <a:xfrm>
            <a:off x="6940296" y="4837176"/>
            <a:ext cx="182880" cy="182880"/>
          </a:xfrm>
          <a:prstGeom prst="ellipse">
            <a:avLst/>
          </a:prstGeom>
          <a:solidFill>
            <a:srgbClr val="8A8580"/>
          </a:solidFill>
          <a:ln/>
        </p:spPr>
      </p:sp>
      <p:sp>
        <p:nvSpPr>
          <p:cNvPr id="15" name="Text 12"/>
          <p:cNvSpPr/>
          <p:nvPr/>
        </p:nvSpPr>
        <p:spPr>
          <a:xfrm>
            <a:off x="7232904" y="4736592"/>
            <a:ext cx="4233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Pending by design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976872" y="5093208"/>
            <a:ext cx="4462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reassessment, manhua polish, and post-launch differentiation (P5 / P8 / P15) deliberately wait until the release gate is healthy.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9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Hanzi Dojo  ·  Road to Public Beta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Polish before the announcement — and after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beta announcement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5486400" cy="1261872"/>
          </a:xfrm>
          <a:prstGeom prst="roundRect">
            <a:avLst>
              <a:gd name="adj" fmla="val 5797"/>
            </a:avLst>
          </a:prstGeom>
          <a:solidFill>
            <a:srgbClr val="F6F1EC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" y="2295144"/>
            <a:ext cx="164592" cy="164592"/>
          </a:xfrm>
          <a:prstGeom prst="ellipse">
            <a:avLst/>
          </a:prstGeom>
          <a:solidFill>
            <a:srgbClr val="B83A24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21854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Accessibility, mobile &amp; performance passes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2569464"/>
            <a:ext cx="4974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a11y audit is underway; mobile and speed passes close the quality phase (P13).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429000"/>
            <a:ext cx="5486400" cy="1261872"/>
          </a:xfrm>
          <a:prstGeom prst="roundRect">
            <a:avLst>
              <a:gd name="adj" fmla="val 5797"/>
            </a:avLst>
          </a:prstGeom>
          <a:solidFill>
            <a:srgbClr val="F6F1EC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3666744"/>
            <a:ext cx="164592" cy="164592"/>
          </a:xfrm>
          <a:prstGeom prst="ellipse">
            <a:avLst/>
          </a:prstGeom>
          <a:solidFill>
            <a:srgbClr val="B83A24"/>
          </a:solidFill>
          <a:ln/>
        </p:spPr>
      </p:sp>
      <p:sp>
        <p:nvSpPr>
          <p:cNvPr id="11" name="Text 9"/>
          <p:cNvSpPr/>
          <p:nvPr/>
        </p:nvSpPr>
        <p:spPr>
          <a:xfrm>
            <a:off x="996696" y="35570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error-path e2e &amp; share-flow check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" y="3941064"/>
            <a:ext cx="4974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sign-up failure states and the reading-test share flow end to end (P11).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800600"/>
            <a:ext cx="5486400" cy="1261872"/>
          </a:xfrm>
          <a:prstGeom prst="roundRect">
            <a:avLst>
              <a:gd name="adj" fmla="val 5797"/>
            </a:avLst>
          </a:prstGeom>
          <a:solidFill>
            <a:srgbClr val="F6F1EC"/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" y="5038344"/>
            <a:ext cx="164592" cy="164592"/>
          </a:xfrm>
          <a:prstGeom prst="ellipse">
            <a:avLst/>
          </a:prstGeom>
          <a:solidFill>
            <a:srgbClr val="B83A24"/>
          </a:solidFill>
          <a:ln/>
        </p:spPr>
      </p:sp>
      <p:sp>
        <p:nvSpPr>
          <p:cNvPr id="15" name="Text 13"/>
          <p:cNvSpPr/>
          <p:nvPr/>
        </p:nvSpPr>
        <p:spPr>
          <a:xfrm>
            <a:off x="996696" y="49286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&amp; achievements integrity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58952" y="5312664"/>
            <a:ext cx="4974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every Profile number clearly and audit achievements for determinism (P12).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5727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to follow after launch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2057400"/>
            <a:ext cx="5486400" cy="1261872"/>
          </a:xfrm>
          <a:prstGeom prst="roundRect">
            <a:avLst>
              <a:gd name="adj" fmla="val 5797"/>
            </a:avLst>
          </a:prstGeom>
          <a:solidFill>
            <a:srgbClr val="F6F1E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37376" y="2295144"/>
            <a:ext cx="164592" cy="164592"/>
          </a:xfrm>
          <a:prstGeom prst="ellipse">
            <a:avLst/>
          </a:prstGeom>
          <a:solidFill>
            <a:srgbClr val="8A8580"/>
          </a:solidFill>
          <a:ln/>
        </p:spPr>
      </p:sp>
      <p:sp>
        <p:nvSpPr>
          <p:cNvPr id="20" name="Text 18"/>
          <p:cNvSpPr/>
          <p:nvPr/>
        </p:nvSpPr>
        <p:spPr>
          <a:xfrm>
            <a:off x="6711696" y="21854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FSRS tuning from real review data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73952" y="2569464"/>
            <a:ext cx="4974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 ships on library defaults; real logs will let us tune retention properly.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429000"/>
            <a:ext cx="5486400" cy="1261872"/>
          </a:xfrm>
          <a:prstGeom prst="roundRect">
            <a:avLst>
              <a:gd name="adj" fmla="val 5797"/>
            </a:avLst>
          </a:prstGeom>
          <a:solidFill>
            <a:srgbClr val="F6F1EC"/>
          </a:solidFill>
          <a:ln/>
        </p:spPr>
      </p:sp>
      <p:sp>
        <p:nvSpPr>
          <p:cNvPr id="23" name="Shape 21"/>
          <p:cNvSpPr/>
          <p:nvPr/>
        </p:nvSpPr>
        <p:spPr>
          <a:xfrm>
            <a:off x="6437376" y="3666744"/>
            <a:ext cx="164592" cy="164592"/>
          </a:xfrm>
          <a:prstGeom prst="ellipse">
            <a:avLst/>
          </a:prstGeom>
          <a:solidFill>
            <a:srgbClr val="8A8580"/>
          </a:solidFill>
          <a:ln/>
        </p:spPr>
      </p:sp>
      <p:sp>
        <p:nvSpPr>
          <p:cNvPr id="24" name="Text 22"/>
          <p:cNvSpPr/>
          <p:nvPr/>
        </p:nvSpPr>
        <p:spPr>
          <a:xfrm>
            <a:off x="6711696" y="35570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bootstrap RPC &amp; bundle diet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73952" y="3941064"/>
            <a:ext cx="4974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the four-query Home load into one call; load only the active font family.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4800600"/>
            <a:ext cx="5486400" cy="1261872"/>
          </a:xfrm>
          <a:prstGeom prst="roundRect">
            <a:avLst>
              <a:gd name="adj" fmla="val 5797"/>
            </a:avLst>
          </a:prstGeom>
          <a:solidFill>
            <a:srgbClr val="F6F1EC"/>
          </a:solidFill>
          <a:ln/>
        </p:spPr>
      </p:sp>
      <p:sp>
        <p:nvSpPr>
          <p:cNvPr id="27" name="Shape 25"/>
          <p:cNvSpPr/>
          <p:nvPr/>
        </p:nvSpPr>
        <p:spPr>
          <a:xfrm>
            <a:off x="6437376" y="5038344"/>
            <a:ext cx="164592" cy="164592"/>
          </a:xfrm>
          <a:prstGeom prst="ellipse">
            <a:avLst/>
          </a:prstGeom>
          <a:solidFill>
            <a:srgbClr val="8A8580"/>
          </a:solidFill>
          <a:ln/>
        </p:spPr>
      </p:sp>
      <p:sp>
        <p:nvSpPr>
          <p:cNvPr id="28" name="Text 26"/>
          <p:cNvSpPr/>
          <p:nvPr/>
        </p:nvSpPr>
        <p:spPr>
          <a:xfrm>
            <a:off x="6711696" y="49286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axe checks in e2e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73952" y="5312664"/>
            <a:ext cx="4974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accessibility scanning — a new dependency, planned as a follow-up.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9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Hanzi Dojo  ·  Road to Public Beta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 from here to the announcement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F6F1EC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2212848"/>
            <a:ext cx="548640" cy="548640"/>
          </a:xfrm>
          <a:prstGeom prst="ellipse">
            <a:avLst/>
          </a:prstGeom>
          <a:solidFill>
            <a:srgbClr val="231A1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" y="235549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2148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ED4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58952" y="301752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the gates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" y="3703320"/>
            <a:ext cx="2093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sign-off, legal review, the real-device pass, the fresh-account walkthrough — plus the console keys from slide 4.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36392" y="3511296"/>
            <a:ext cx="201168" cy="201168"/>
          </a:xfrm>
          <a:prstGeom prst="rightArrow">
            <a:avLst/>
          </a:prstGeom>
          <a:solidFill>
            <a:srgbClr val="A99F97"/>
          </a:solidFill>
          <a:ln/>
        </p:spPr>
      </p:sp>
      <p:sp>
        <p:nvSpPr>
          <p:cNvPr id="11" name="Shape 8"/>
          <p:cNvSpPr/>
          <p:nvPr/>
        </p:nvSpPr>
        <p:spPr>
          <a:xfrm>
            <a:off x="3364992" y="192024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F6F1EC"/>
          </a:solidFill>
          <a:ln/>
        </p:spPr>
      </p:sp>
      <p:sp>
        <p:nvSpPr>
          <p:cNvPr id="12" name="Shape 9"/>
          <p:cNvSpPr/>
          <p:nvPr/>
        </p:nvSpPr>
        <p:spPr>
          <a:xfrm>
            <a:off x="3621024" y="2212848"/>
            <a:ext cx="548640" cy="548640"/>
          </a:xfrm>
          <a:prstGeom prst="ellipse">
            <a:avLst/>
          </a:prstGeom>
          <a:solidFill>
            <a:srgbClr val="231A1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670" y="2355494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3792" y="2148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ED4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3621024" y="301752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 the release checklist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621024" y="3703320"/>
            <a:ext cx="2093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merge already walks it: lint, ~3,000 tests, build, e2e with visual screenshots, docs updated. No exceptions on launch week.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998464" y="3511296"/>
            <a:ext cx="201168" cy="201168"/>
          </a:xfrm>
          <a:prstGeom prst="rightArrow">
            <a:avLst/>
          </a:prstGeom>
          <a:solidFill>
            <a:srgbClr val="A99F97"/>
          </a:solidFill>
          <a:ln/>
        </p:spPr>
      </p:sp>
      <p:sp>
        <p:nvSpPr>
          <p:cNvPr id="18" name="Shape 14"/>
          <p:cNvSpPr/>
          <p:nvPr/>
        </p:nvSpPr>
        <p:spPr>
          <a:xfrm>
            <a:off x="6227064" y="192024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F6F1EC"/>
          </a:solidFill>
          <a:ln/>
        </p:spPr>
      </p:sp>
      <p:sp>
        <p:nvSpPr>
          <p:cNvPr id="19" name="Shape 15"/>
          <p:cNvSpPr/>
          <p:nvPr/>
        </p:nvSpPr>
        <p:spPr>
          <a:xfrm>
            <a:off x="6483096" y="2212848"/>
            <a:ext cx="548640" cy="548640"/>
          </a:xfrm>
          <a:prstGeom prst="ellipse">
            <a:avLst/>
          </a:prstGeom>
          <a:solidFill>
            <a:srgbClr val="231A1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742" y="2355494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55864" y="2148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ED4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17"/>
          <p:cNvSpPr/>
          <p:nvPr/>
        </p:nvSpPr>
        <p:spPr>
          <a:xfrm>
            <a:off x="6483096" y="301752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Wider-push verification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483096" y="3703320"/>
            <a:ext cx="2093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pre-announcement list: trust pages final, device pass done, nothing in the milestone still blocked, production watched after each deploy.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860536" y="3511296"/>
            <a:ext cx="201168" cy="201168"/>
          </a:xfrm>
          <a:prstGeom prst="rightArrow">
            <a:avLst/>
          </a:prstGeom>
          <a:solidFill>
            <a:srgbClr val="A99F97"/>
          </a:solidFill>
          <a:ln/>
        </p:spPr>
      </p:sp>
      <p:sp>
        <p:nvSpPr>
          <p:cNvPr id="25" name="Shape 20"/>
          <p:cNvSpPr/>
          <p:nvPr/>
        </p:nvSpPr>
        <p:spPr>
          <a:xfrm>
            <a:off x="9089136" y="192024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231A16"/>
          </a:solidFill>
          <a:ln/>
        </p:spPr>
      </p:sp>
      <p:sp>
        <p:nvSpPr>
          <p:cNvPr id="26" name="Shape 21"/>
          <p:cNvSpPr/>
          <p:nvPr/>
        </p:nvSpPr>
        <p:spPr>
          <a:xfrm>
            <a:off x="9345168" y="2212848"/>
            <a:ext cx="548640" cy="548640"/>
          </a:xfrm>
          <a:prstGeom prst="ellipse">
            <a:avLst/>
          </a:prstGeom>
          <a:solidFill>
            <a:srgbClr val="B83A24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7814" y="2355494"/>
            <a:ext cx="263347" cy="26334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917936" y="2148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B8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9" name="Text 23"/>
          <p:cNvSpPr/>
          <p:nvPr/>
        </p:nvSpPr>
        <p:spPr>
          <a:xfrm>
            <a:off x="9345168" y="301752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Announce the beta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345168" y="3703320"/>
            <a:ext cx="2093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D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merge itself posts to the community automatically; the invite wave follows once the day-one watch is clean.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029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9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Hanzi Dojo  ·  Road to Public Beta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9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B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GATE, IN ONE 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is not the bottleneck.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Sign-off, keys, and stories are.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2E211C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" y="3547872"/>
            <a:ext cx="512064" cy="512064"/>
          </a:xfrm>
          <a:prstGeom prst="ellipse">
            <a:avLst/>
          </a:prstGeom>
          <a:solidFill>
            <a:srgbClr val="B83A2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401" y="3681009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420624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Editorial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9264" y="4572000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Chinese reviewer certifies grammar &amp; stories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93592" y="32918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2E211C"/>
          </a:solidFill>
          <a:ln/>
        </p:spPr>
      </p:sp>
      <p:sp>
        <p:nvSpPr>
          <p:cNvPr id="10" name="Shape 7"/>
          <p:cNvSpPr/>
          <p:nvPr/>
        </p:nvSpPr>
        <p:spPr>
          <a:xfrm>
            <a:off x="3831336" y="3547872"/>
            <a:ext cx="512064" cy="512064"/>
          </a:xfrm>
          <a:prstGeom prst="ellipse">
            <a:avLst/>
          </a:prstGeom>
          <a:solidFill>
            <a:srgbClr val="B83A2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473" y="3681009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31336" y="420624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831336" y="4572000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approves the four trust pages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55664" y="32918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2E211C"/>
          </a:solidFill>
          <a:ln/>
        </p:spPr>
      </p:sp>
      <p:sp>
        <p:nvSpPr>
          <p:cNvPr id="15" name="Shape 11"/>
          <p:cNvSpPr/>
          <p:nvPr/>
        </p:nvSpPr>
        <p:spPr>
          <a:xfrm>
            <a:off x="6693408" y="3547872"/>
            <a:ext cx="512064" cy="512064"/>
          </a:xfrm>
          <a:prstGeom prst="ellipse">
            <a:avLst/>
          </a:prstGeom>
          <a:solidFill>
            <a:srgbClr val="B83A2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545" y="3681009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93408" y="420624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693408" y="4572000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real-device pass — audio, offline, push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317736" y="32918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2E211C"/>
          </a:solidFill>
          <a:ln/>
        </p:spPr>
      </p:sp>
      <p:sp>
        <p:nvSpPr>
          <p:cNvPr id="20" name="Shape 15"/>
          <p:cNvSpPr/>
          <p:nvPr/>
        </p:nvSpPr>
        <p:spPr>
          <a:xfrm>
            <a:off x="9555480" y="3547872"/>
            <a:ext cx="512064" cy="512064"/>
          </a:xfrm>
          <a:prstGeom prst="ellipse">
            <a:avLst/>
          </a:prstGeom>
          <a:solidFill>
            <a:srgbClr val="B83A2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8617" y="3681009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55480" y="420624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555480" y="4572000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+ LLM secrets set; auth domain live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73152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B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signatures, then we open the doors.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2026-08-05T15:00:26Z</dcterms:created>
  <dcterms:modified xsi:type="dcterms:W3CDTF">2026-08-05T15:00:26Z</dcterms:modified>
</cp:coreProperties>
</file>